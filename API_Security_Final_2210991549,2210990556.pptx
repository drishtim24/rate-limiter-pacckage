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6"/>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58" r:id="rId15"/>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i7kvGEwsRkTwVioWvKAV5+GHnJ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58384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6"/>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8"/>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10"/>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1"/>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1"/>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2"/>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2"/>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3"/>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4"/>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4"/>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5"/>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5"/>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5"/>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6"/>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6"/>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6"/>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6"/>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6"/>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6"/>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4"/>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pic>
        <p:nvPicPr>
          <p:cNvPr id="13" name="Google Shape;13;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4"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19" name="Google Shape;19;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Google Shape;24;p4"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25" name="Google Shape;25;p4"/>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4"/>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4"/>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4"/>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0" y="840631"/>
            <a:ext cx="9144000" cy="537728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Project Presentation of CO-OP Project at Industry (Module-2) (22CS421)</a:t>
            </a: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On</a:t>
            </a:r>
            <a:endParaRPr dirty="0"/>
          </a:p>
          <a:p>
            <a:pPr marL="0" lvl="0" indent="0" algn="ctr" rtl="0">
              <a:lnSpc>
                <a:spcPct val="107916"/>
              </a:lnSpc>
              <a:spcBef>
                <a:spcPts val="0"/>
              </a:spcBef>
              <a:spcAft>
                <a:spcPts val="0"/>
              </a:spcAft>
              <a:buClr>
                <a:schemeClr val="dk1"/>
              </a:buClr>
              <a:buSzPts val="1100"/>
              <a:buFont typeface="Arial"/>
              <a:buNone/>
            </a:pPr>
            <a:r>
              <a:rPr lang="en-US" sz="4800" dirty="0">
                <a:solidFill>
                  <a:srgbClr val="202124"/>
                </a:solidFill>
                <a:highlight>
                  <a:srgbClr val="FFFFFF"/>
                </a:highlight>
                <a:latin typeface="Times New Roman"/>
                <a:ea typeface="Times New Roman"/>
                <a:cs typeface="Times New Roman"/>
                <a:sym typeface="Times New Roman"/>
              </a:rPr>
              <a:t>API security and Traffic Management </a:t>
            </a:r>
            <a:endParaRPr sz="4800" i="1"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80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
            </a:r>
            <a:br>
              <a:rPr lang="en-US" sz="2000" b="0" i="0" u="none" strike="noStrike" cap="none" dirty="0">
                <a:solidFill>
                  <a:srgbClr val="000000"/>
                </a:solidFill>
                <a:latin typeface="Times New Roman"/>
                <a:ea typeface="Times New Roman"/>
                <a:cs typeface="Times New Roman"/>
                <a:sym typeface="Times New Roman"/>
              </a:rPr>
            </a:br>
            <a:r>
              <a:rPr lang="en-US" sz="2000" dirty="0">
                <a:latin typeface="Times New Roman"/>
                <a:ea typeface="Times New Roman"/>
                <a:cs typeface="Times New Roman"/>
                <a:sym typeface="Times New Roman"/>
              </a:rPr>
              <a:t>Drishti </a:t>
            </a:r>
            <a:r>
              <a:rPr lang="en-US" sz="2000" dirty="0" err="1">
                <a:latin typeface="Times New Roman"/>
                <a:ea typeface="Times New Roman"/>
                <a:cs typeface="Times New Roman"/>
                <a:sym typeface="Times New Roman"/>
              </a:rPr>
              <a:t>Middha</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Mannat</a:t>
            </a:r>
            <a:endParaRPr dirty="0"/>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2210991549, 2210990556</a:t>
            </a:r>
            <a:endParaRPr dirty="0"/>
          </a:p>
          <a:p>
            <a:pPr marL="0" marR="0" lvl="0" indent="0" algn="ctr" rtl="0">
              <a:lnSpc>
                <a:spcPct val="100000"/>
              </a:lnSpc>
              <a:spcBef>
                <a:spcPts val="40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Supervised By</a:t>
            </a:r>
            <a:endParaRPr dirty="0"/>
          </a:p>
          <a:p>
            <a:pPr marL="0" marR="0" lvl="0" indent="0" algn="ctr" rtl="0">
              <a:lnSpc>
                <a:spcPct val="100000"/>
              </a:lnSpc>
              <a:spcBef>
                <a:spcPts val="400"/>
              </a:spcBef>
              <a:spcAft>
                <a:spcPts val="0"/>
              </a:spcAft>
              <a:buNone/>
            </a:pPr>
            <a:r>
              <a:rPr lang="en-GB" sz="2000" dirty="0" err="1" smtClean="0">
                <a:latin typeface="Times New Roman"/>
                <a:ea typeface="Times New Roman"/>
                <a:cs typeface="Times New Roman"/>
                <a:sym typeface="Times New Roman"/>
              </a:rPr>
              <a:t>Dr.</a:t>
            </a:r>
            <a:r>
              <a:rPr lang="en-GB" sz="2000" dirty="0" smtClean="0">
                <a:latin typeface="Times New Roman"/>
                <a:ea typeface="Times New Roman"/>
                <a:cs typeface="Times New Roman"/>
                <a:sym typeface="Times New Roman"/>
              </a:rPr>
              <a:t> </a:t>
            </a:r>
            <a:r>
              <a:rPr lang="en-GB" sz="2000" dirty="0" err="1" smtClean="0">
                <a:latin typeface="Times New Roman"/>
                <a:ea typeface="Times New Roman"/>
                <a:cs typeface="Times New Roman"/>
                <a:sym typeface="Times New Roman"/>
              </a:rPr>
              <a:t>Lalit</a:t>
            </a:r>
            <a:r>
              <a:rPr lang="en-GB" sz="2000" smtClean="0">
                <a:latin typeface="Times New Roman"/>
                <a:ea typeface="Times New Roman"/>
                <a:cs typeface="Times New Roman"/>
                <a:sym typeface="Times New Roman"/>
              </a:rPr>
              <a:t> Sharma</a:t>
            </a: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Department of Computer Science and Engineering, </a:t>
            </a:r>
            <a:endParaRPr dirty="0"/>
          </a:p>
          <a:p>
            <a:pPr marL="0" marR="0" lvl="0" indent="0" algn="ctr" rtl="0">
              <a:lnSpc>
                <a:spcPct val="100000"/>
              </a:lnSpc>
              <a:spcBef>
                <a:spcPts val="400"/>
              </a:spcBef>
              <a:spcAft>
                <a:spcPts val="0"/>
              </a:spcAft>
              <a:buNone/>
            </a:pPr>
            <a:r>
              <a:rPr lang="en-US" sz="2400" b="0" i="0" u="none" strike="noStrike" cap="none" dirty="0" err="1">
                <a:solidFill>
                  <a:schemeClr val="dk1"/>
                </a:solidFill>
                <a:latin typeface="Times New Roman"/>
                <a:ea typeface="Times New Roman"/>
                <a:cs typeface="Times New Roman"/>
                <a:sym typeface="Times New Roman"/>
              </a:rPr>
              <a:t>Chitkara</a:t>
            </a:r>
            <a:r>
              <a:rPr lang="en-US" sz="2400" b="0" i="0" u="none" strike="noStrike" cap="none" dirty="0">
                <a:solidFill>
                  <a:schemeClr val="dk1"/>
                </a:solidFill>
                <a:latin typeface="Times New Roman"/>
                <a:ea typeface="Times New Roman"/>
                <a:cs typeface="Times New Roman"/>
                <a:sym typeface="Times New Roman"/>
              </a:rPr>
              <a:t> University, Punjab</a:t>
            </a:r>
            <a:endParaRPr dirty="0"/>
          </a:p>
          <a:p>
            <a:pPr marL="0" marR="0" lvl="0" indent="0" algn="ctr" rtl="0">
              <a:lnSpc>
                <a:spcPct val="150000"/>
              </a:lnSpc>
              <a:spcBef>
                <a:spcPts val="400"/>
              </a:spcBef>
              <a:spcAft>
                <a:spcPts val="0"/>
              </a:spcAft>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0" i="0" u="none" strike="noStrike" cap="none" dirty="0">
                <a:solidFill>
                  <a:schemeClr val="dk1"/>
                </a:solidFill>
                <a:latin typeface="Times New Roman"/>
                <a:ea typeface="Times New Roman"/>
                <a:cs typeface="Times New Roman"/>
                <a:sym typeface="Times New Roman"/>
              </a:rPr>
              <a:t>Introduction</a:t>
            </a:r>
            <a:endParaRPr sz="3000" b="0" i="0" u="none" strike="noStrike" cap="none" dirty="0">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900" dirty="0">
                <a:latin typeface="Times New Roman" panose="02020603050405020304" pitchFamily="18" charset="0"/>
                <a:ea typeface="Calibri"/>
                <a:cs typeface="Times New Roman" panose="02020603050405020304" pitchFamily="18" charset="0"/>
                <a:sym typeface="Calibri"/>
              </a:rPr>
              <a:t>In the modern digital ecosystem, web applications and APIs process massive volumes of requests, making effective traffic management essential for maintaining performance and reliability. Uncontrolled or malicious API requests can overload backend systems, causing increased latency, degraded performance, and even server failures. Traditional rate-limiting methods often lack precision in distributed or high-concurrency environments and may suffer from race conditions, making them less suitable for modern scalable architectures.</a:t>
            </a:r>
            <a:endParaRPr sz="1900" dirty="0">
              <a:latin typeface="Times New Roman" panose="02020603050405020304" pitchFamily="18" charset="0"/>
              <a:ea typeface="Calibri"/>
              <a:cs typeface="Times New Roman" panose="02020603050405020304" pitchFamily="18" charset="0"/>
              <a:sym typeface="Calibri"/>
            </a:endParaRPr>
          </a:p>
          <a:p>
            <a:pPr marL="0" lvl="0" indent="0" algn="l" rtl="0">
              <a:lnSpc>
                <a:spcPct val="115000"/>
              </a:lnSpc>
              <a:spcBef>
                <a:spcPts val="1200"/>
              </a:spcBef>
              <a:spcAft>
                <a:spcPts val="0"/>
              </a:spcAft>
              <a:buClr>
                <a:schemeClr val="dk1"/>
              </a:buClr>
              <a:buSzPts val="1100"/>
              <a:buFont typeface="Arial"/>
              <a:buNone/>
            </a:pPr>
            <a:r>
              <a:rPr lang="en-US" sz="1900" dirty="0">
                <a:latin typeface="Times New Roman" panose="02020603050405020304" pitchFamily="18" charset="0"/>
                <a:ea typeface="Calibri"/>
                <a:cs typeface="Times New Roman" panose="02020603050405020304" pitchFamily="18" charset="0"/>
                <a:sym typeface="Calibri"/>
              </a:rPr>
              <a:t>To address these challenges, this project proposes a </a:t>
            </a:r>
            <a:r>
              <a:rPr lang="en-US" sz="1900" dirty="0" err="1">
                <a:latin typeface="Times New Roman" panose="02020603050405020304" pitchFamily="18" charset="0"/>
                <a:ea typeface="Calibri"/>
                <a:cs typeface="Times New Roman" panose="02020603050405020304" pitchFamily="18" charset="0"/>
                <a:sym typeface="Calibri"/>
              </a:rPr>
              <a:t>Redis</a:t>
            </a:r>
            <a:r>
              <a:rPr lang="en-US" sz="1900" dirty="0">
                <a:latin typeface="Times New Roman" panose="02020603050405020304" pitchFamily="18" charset="0"/>
                <a:ea typeface="Calibri"/>
                <a:cs typeface="Times New Roman" panose="02020603050405020304" pitchFamily="18" charset="0"/>
                <a:sym typeface="Calibri"/>
              </a:rPr>
              <a:t>-based Sliding Window Rate Limiter that uses </a:t>
            </a:r>
            <a:r>
              <a:rPr lang="en-US" sz="1900" dirty="0" err="1">
                <a:latin typeface="Times New Roman" panose="02020603050405020304" pitchFamily="18" charset="0"/>
                <a:ea typeface="Calibri"/>
                <a:cs typeface="Times New Roman" panose="02020603050405020304" pitchFamily="18" charset="0"/>
                <a:sym typeface="Calibri"/>
              </a:rPr>
              <a:t>Redis</a:t>
            </a:r>
            <a:r>
              <a:rPr lang="en-US" sz="1900" dirty="0">
                <a:latin typeface="Times New Roman" panose="02020603050405020304" pitchFamily="18" charset="0"/>
                <a:ea typeface="Calibri"/>
                <a:cs typeface="Times New Roman" panose="02020603050405020304" pitchFamily="18" charset="0"/>
                <a:sym typeface="Calibri"/>
              </a:rPr>
              <a:t> Sorted Sets for accurate request tracking and </a:t>
            </a:r>
            <a:r>
              <a:rPr lang="en-US" sz="1900" dirty="0" err="1">
                <a:latin typeface="Times New Roman" panose="02020603050405020304" pitchFamily="18" charset="0"/>
                <a:ea typeface="Calibri"/>
                <a:cs typeface="Times New Roman" panose="02020603050405020304" pitchFamily="18" charset="0"/>
                <a:sym typeface="Calibri"/>
              </a:rPr>
              <a:t>Lua</a:t>
            </a:r>
            <a:r>
              <a:rPr lang="en-US" sz="1900" dirty="0">
                <a:latin typeface="Times New Roman" panose="02020603050405020304" pitchFamily="18" charset="0"/>
                <a:ea typeface="Calibri"/>
                <a:cs typeface="Times New Roman" panose="02020603050405020304" pitchFamily="18" charset="0"/>
                <a:sym typeface="Calibri"/>
              </a:rPr>
              <a:t> scripting for atomic execution of rate-limiting logic. By combining in-memory storage with the sliding window algorithm, the system ensures fair and precise request control, prevents race conditions, and maintains low-latency performance. Designed for scalability and easy backend integration, the solution provides a reliable mechanism for protecting APIs and improving overall system stability in high-traffic environments.</a:t>
            </a:r>
            <a:endParaRPr sz="1900" dirty="0">
              <a:latin typeface="Times New Roman" panose="02020603050405020304" pitchFamily="18" charset="0"/>
              <a:ea typeface="Calibri"/>
              <a:cs typeface="Times New Roman" panose="02020603050405020304" pitchFamily="18" charset="0"/>
              <a:sym typeface="Calibri"/>
            </a:endParaRPr>
          </a:p>
          <a:p>
            <a:pPr marL="0" marR="0" lvl="0" indent="0" algn="l" rtl="0">
              <a:spcBef>
                <a:spcPts val="1200"/>
              </a:spcBef>
              <a:spcAft>
                <a:spcPts val="0"/>
              </a:spcAft>
              <a:buNone/>
            </a:pPr>
            <a:endParaRPr sz="1900" dirty="0">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5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5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5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5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400"/>
              </a:spcBef>
              <a:spcAft>
                <a:spcPts val="0"/>
              </a:spcAft>
              <a:buNone/>
            </a:pPr>
            <a:endParaRPr sz="19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dirty="0">
                <a:solidFill>
                  <a:schemeClr val="dk1"/>
                </a:solidFill>
                <a:latin typeface="Times New Roman"/>
                <a:ea typeface="Times New Roman"/>
                <a:cs typeface="Times New Roman"/>
                <a:sym typeface="Times New Roman"/>
              </a:rPr>
              <a:t>Project Overview</a:t>
            </a:r>
            <a:endParaRPr sz="3200" dirty="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3</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This project presents the design and implementation of a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-Based Sliding Window Rate Limiter using </a:t>
            </a:r>
            <a:r>
              <a:rPr lang="en-US" sz="1900" b="0" i="0" u="none" strike="noStrike" cap="none" dirty="0" err="1">
                <a:solidFill>
                  <a:schemeClr val="dk1"/>
                </a:solidFill>
                <a:latin typeface="Times New Roman"/>
                <a:ea typeface="Times New Roman"/>
                <a:cs typeface="Times New Roman"/>
                <a:sym typeface="Times New Roman"/>
              </a:rPr>
              <a:t>Lua</a:t>
            </a:r>
            <a:r>
              <a:rPr lang="en-US" sz="1900" b="0" i="0" u="none" strike="noStrike" cap="none" dirty="0">
                <a:solidFill>
                  <a:schemeClr val="dk1"/>
                </a:solidFill>
                <a:latin typeface="Times New Roman"/>
                <a:ea typeface="Times New Roman"/>
                <a:cs typeface="Times New Roman"/>
                <a:sym typeface="Times New Roman"/>
              </a:rPr>
              <a:t> Scripting — an efficient and scalable mechanism for precise API request control in distributed backend systems.</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The system uses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Sorted Sets for timestamp-based request tracking and </a:t>
            </a:r>
            <a:r>
              <a:rPr lang="en-US" sz="1900" b="0" i="0" u="none" strike="noStrike" cap="none" dirty="0" err="1">
                <a:solidFill>
                  <a:schemeClr val="dk1"/>
                </a:solidFill>
                <a:latin typeface="Times New Roman"/>
                <a:ea typeface="Times New Roman"/>
                <a:cs typeface="Times New Roman"/>
                <a:sym typeface="Times New Roman"/>
              </a:rPr>
              <a:t>Lua</a:t>
            </a:r>
            <a:r>
              <a:rPr lang="en-US" sz="1900" b="0" i="0" u="none" strike="noStrike" cap="none" dirty="0">
                <a:solidFill>
                  <a:schemeClr val="dk1"/>
                </a:solidFill>
                <a:latin typeface="Times New Roman"/>
                <a:ea typeface="Times New Roman"/>
                <a:cs typeface="Times New Roman"/>
                <a:sym typeface="Times New Roman"/>
              </a:rPr>
              <a:t> scripting to ensure atomic execution of all operations, eliminating race conditions under heavy concurrent traffic.</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The solution achieves high performance, low latency, and scalability, making it suitable for modern distributed architectures. It integrates seamlessly as Node.js/Express middleware to protect any REST API.</a:t>
            </a:r>
            <a:endParaRPr sz="19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22578"/>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Problem Background</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4</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In today's digital ecosystem, backend APIs handle massive request volumes. Uncontrolled traffic leads to:</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Performance degradation and increased latency under load</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Server overload and complete system failures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Security vulnerabilities from malicious traffic floods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Traditional rate-limiting techniques are inefficient because:</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They suffer from race conditions in concurrent, distributed environments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Fixed Window algorithms allow burst traffic at window boundaries — double the allowed rate</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They lack scalability and do not share state across multiple server instances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They fail under high-concurrency due to non-atomic operations</a:t>
            </a:r>
            <a:endParaRPr sz="1800"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Objectives and Scope</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5</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The objective of this project is to:</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Design and implement an efficient </a:t>
            </a:r>
            <a:r>
              <a:rPr lang="en-US" sz="1800" b="0" i="0" u="none" strike="noStrike" cap="none" dirty="0" err="1">
                <a:solidFill>
                  <a:schemeClr val="dk1"/>
                </a:solidFill>
                <a:latin typeface="Times New Roman"/>
                <a:ea typeface="Times New Roman"/>
                <a:cs typeface="Times New Roman"/>
                <a:sym typeface="Times New Roman"/>
              </a:rPr>
              <a:t>Redis</a:t>
            </a:r>
            <a:r>
              <a:rPr lang="en-US" sz="1800" b="0" i="0" u="none" strike="noStrike" cap="none" dirty="0">
                <a:solidFill>
                  <a:schemeClr val="dk1"/>
                </a:solidFill>
                <a:latin typeface="Times New Roman"/>
                <a:ea typeface="Times New Roman"/>
                <a:cs typeface="Times New Roman"/>
                <a:sym typeface="Times New Roman"/>
              </a:rPr>
              <a:t>-based sliding window rate limiter</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Use </a:t>
            </a:r>
            <a:r>
              <a:rPr lang="en-US" sz="1800" b="0" i="0" u="none" strike="noStrike" cap="none" dirty="0" err="1">
                <a:solidFill>
                  <a:schemeClr val="dk1"/>
                </a:solidFill>
                <a:latin typeface="Times New Roman"/>
                <a:ea typeface="Times New Roman"/>
                <a:cs typeface="Times New Roman"/>
                <a:sym typeface="Times New Roman"/>
              </a:rPr>
              <a:t>Lua</a:t>
            </a:r>
            <a:r>
              <a:rPr lang="en-US" sz="1800" b="0" i="0" u="none" strike="noStrike" cap="none" dirty="0">
                <a:solidFill>
                  <a:schemeClr val="dk1"/>
                </a:solidFill>
                <a:latin typeface="Times New Roman"/>
                <a:ea typeface="Times New Roman"/>
                <a:cs typeface="Times New Roman"/>
                <a:sym typeface="Times New Roman"/>
              </a:rPr>
              <a:t> scripting for atomic, race-condition-free </a:t>
            </a:r>
            <a:r>
              <a:rPr lang="en-US" sz="1800" b="0" i="0" u="none" strike="noStrike" cap="none" dirty="0" err="1">
                <a:solidFill>
                  <a:schemeClr val="dk1"/>
                </a:solidFill>
                <a:latin typeface="Times New Roman"/>
                <a:ea typeface="Times New Roman"/>
                <a:cs typeface="Times New Roman"/>
                <a:sym typeface="Times New Roman"/>
              </a:rPr>
              <a:t>Redis</a:t>
            </a:r>
            <a:r>
              <a:rPr lang="en-US" sz="1800" b="0" i="0" u="none" strike="noStrike" cap="none" dirty="0">
                <a:solidFill>
                  <a:schemeClr val="dk1"/>
                </a:solidFill>
                <a:latin typeface="Times New Roman"/>
                <a:ea typeface="Times New Roman"/>
                <a:cs typeface="Times New Roman"/>
                <a:sym typeface="Times New Roman"/>
              </a:rPr>
              <a:t> operations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Prevent API abuse and protect backend systems from overload</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Maintain low latency and ensure fairness among all clients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Build clean Express.js middleware with configurable limit and window</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Scope</a:t>
            </a:r>
            <a:r>
              <a:rPr lang="en-US" sz="1900" b="1"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In Scope: </a:t>
            </a:r>
            <a:r>
              <a:rPr lang="en-US" sz="1800" b="0" i="0" u="none" strike="noStrike" cap="none" dirty="0" err="1">
                <a:solidFill>
                  <a:schemeClr val="dk1"/>
                </a:solidFill>
                <a:latin typeface="Times New Roman"/>
                <a:ea typeface="Times New Roman"/>
                <a:cs typeface="Times New Roman"/>
                <a:sym typeface="Times New Roman"/>
              </a:rPr>
              <a:t>Redis</a:t>
            </a:r>
            <a:r>
              <a:rPr lang="en-US" sz="1800" b="0" i="0" u="none" strike="noStrike" cap="none" dirty="0">
                <a:solidFill>
                  <a:schemeClr val="dk1"/>
                </a:solidFill>
                <a:latin typeface="Times New Roman"/>
                <a:ea typeface="Times New Roman"/>
                <a:cs typeface="Times New Roman"/>
                <a:sym typeface="Times New Roman"/>
              </a:rPr>
              <a:t> Sorted Set tracking, Sliding Window algorithm, </a:t>
            </a:r>
            <a:r>
              <a:rPr lang="en-US" sz="1800" b="0" i="0" u="none" strike="noStrike" cap="none" dirty="0" err="1">
                <a:solidFill>
                  <a:schemeClr val="dk1"/>
                </a:solidFill>
                <a:latin typeface="Times New Roman"/>
                <a:ea typeface="Times New Roman"/>
                <a:cs typeface="Times New Roman"/>
                <a:sym typeface="Times New Roman"/>
              </a:rPr>
              <a:t>Lua</a:t>
            </a:r>
            <a:r>
              <a:rPr lang="en-US" sz="1800" b="0" i="0" u="none" strike="noStrike" cap="none" dirty="0">
                <a:solidFill>
                  <a:schemeClr val="dk1"/>
                </a:solidFill>
                <a:latin typeface="Times New Roman"/>
                <a:ea typeface="Times New Roman"/>
                <a:cs typeface="Times New Roman"/>
                <a:sym typeface="Times New Roman"/>
              </a:rPr>
              <a:t> atomic execution, Express middleware, per-IP and per-feature limits, HTTP 429 enforcement</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Out of Scope: Token/Leaky Bucket, </a:t>
            </a:r>
            <a:r>
              <a:rPr lang="en-US" sz="1800" b="0" i="0" u="none" strike="noStrike" cap="none" dirty="0" err="1">
                <a:solidFill>
                  <a:schemeClr val="dk1"/>
                </a:solidFill>
                <a:latin typeface="Times New Roman"/>
                <a:ea typeface="Times New Roman"/>
                <a:cs typeface="Times New Roman"/>
                <a:sym typeface="Times New Roman"/>
              </a:rPr>
              <a:t>Auth</a:t>
            </a:r>
            <a:r>
              <a:rPr lang="en-US" sz="1800" b="0" i="0" u="none" strike="noStrike" cap="none" dirty="0">
                <a:solidFill>
                  <a:schemeClr val="dk1"/>
                </a:solidFill>
                <a:latin typeface="Times New Roman"/>
                <a:ea typeface="Times New Roman"/>
                <a:cs typeface="Times New Roman"/>
                <a:sym typeface="Times New Roman"/>
              </a:rPr>
              <a:t> system, Monitoring dashboard, Cloud deployment, API Gateway integration</a:t>
            </a:r>
            <a:endParaRPr sz="18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Methodology — Proposed Solution</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6</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The system processes each incoming API request through these steps:</a:t>
            </a:r>
            <a:endParaRPr sz="1900" dirty="0">
              <a:latin typeface="Times New Roman"/>
              <a:ea typeface="Times New Roman"/>
              <a:cs typeface="Times New Roman"/>
              <a:sym typeface="Times New Roman"/>
            </a:endParaRPr>
          </a:p>
          <a:p>
            <a:pPr marL="0" lvl="0" indent="0" algn="l" rtl="0">
              <a:lnSpc>
                <a:spcPct val="115000"/>
              </a:lnSpc>
              <a:spcBef>
                <a:spcPts val="600"/>
              </a:spcBef>
              <a:spcAft>
                <a:spcPts val="0"/>
              </a:spcAft>
              <a:buNone/>
            </a:pPr>
            <a:endParaRPr sz="1200" dirty="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Step 1: Identify the client IP address</a:t>
            </a:r>
            <a:endParaRPr sz="1800" dirty="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Step 2: Fetch </a:t>
            </a:r>
            <a:r>
              <a:rPr lang="en-US" sz="1800" b="0" i="0" u="none" strike="noStrike" cap="none" dirty="0" err="1">
                <a:solidFill>
                  <a:schemeClr val="dk1"/>
                </a:solidFill>
                <a:latin typeface="Times New Roman"/>
                <a:ea typeface="Times New Roman"/>
                <a:cs typeface="Times New Roman"/>
                <a:sym typeface="Times New Roman"/>
              </a:rPr>
              <a:t>Redis</a:t>
            </a:r>
            <a:r>
              <a:rPr lang="en-US" sz="1800" b="0" i="0" u="none" strike="noStrike" cap="none" dirty="0">
                <a:solidFill>
                  <a:schemeClr val="dk1"/>
                </a:solidFill>
                <a:latin typeface="Times New Roman"/>
                <a:ea typeface="Times New Roman"/>
                <a:cs typeface="Times New Roman"/>
                <a:sym typeface="Times New Roman"/>
              </a:rPr>
              <a:t> Sorted Set (</a:t>
            </a:r>
            <a:r>
              <a:rPr lang="en-US" sz="1800" b="0" i="0" u="none" strike="noStrike" cap="none" dirty="0" err="1">
                <a:solidFill>
                  <a:schemeClr val="dk1"/>
                </a:solidFill>
                <a:latin typeface="Times New Roman"/>
                <a:ea typeface="Times New Roman"/>
                <a:cs typeface="Times New Roman"/>
                <a:sym typeface="Times New Roman"/>
              </a:rPr>
              <a:t>rate_limit:ip:feature</a:t>
            </a:r>
            <a:r>
              <a:rPr lang="en-US" sz="1800" b="0" i="0" u="none" strike="noStrike" cap="none" dirty="0">
                <a:solidFill>
                  <a:schemeClr val="dk1"/>
                </a:solidFill>
                <a:latin typeface="Times New Roman"/>
                <a:ea typeface="Times New Roman"/>
                <a:cs typeface="Times New Roman"/>
                <a:sym typeface="Times New Roman"/>
              </a:rPr>
              <a:t>)</a:t>
            </a:r>
            <a:endParaRPr sz="1800" dirty="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Step 3: Remove expired timestamps outside the window</a:t>
            </a:r>
            <a:endParaRPr sz="1800" dirty="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Step 4: Count active requests in current window</a:t>
            </a:r>
            <a:endParaRPr sz="1800" dirty="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Step 5: Compare count against configured limit</a:t>
            </a:r>
            <a:endParaRPr sz="1800" dirty="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Step 6: Allow (HTTP 200) or Reject (HTTP 429)</a:t>
            </a:r>
            <a:endParaRPr sz="1800" dirty="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Step 7: Store new timestamp in </a:t>
            </a:r>
            <a:r>
              <a:rPr lang="en-US" sz="1800" b="0" i="0" u="none" strike="noStrike" cap="none" dirty="0" err="1">
                <a:solidFill>
                  <a:schemeClr val="dk1"/>
                </a:solidFill>
                <a:latin typeface="Times New Roman"/>
                <a:ea typeface="Times New Roman"/>
                <a:cs typeface="Times New Roman"/>
                <a:sym typeface="Times New Roman"/>
              </a:rPr>
              <a:t>Redis</a:t>
            </a:r>
            <a:r>
              <a:rPr lang="en-US" sz="1800" b="0" i="0" u="none" strike="noStrike" cap="none" dirty="0">
                <a:solidFill>
                  <a:schemeClr val="dk1"/>
                </a:solidFill>
                <a:latin typeface="Times New Roman"/>
                <a:ea typeface="Times New Roman"/>
                <a:cs typeface="Times New Roman"/>
                <a:sym typeface="Times New Roman"/>
              </a:rPr>
              <a:t> if allowed</a:t>
            </a:r>
            <a:endParaRPr sz="1800" dirty="0">
              <a:latin typeface="Times New Roman"/>
              <a:ea typeface="Times New Roman"/>
              <a:cs typeface="Times New Roman"/>
              <a:sym typeface="Times New Roman"/>
            </a:endParaRPr>
          </a:p>
        </p:txBody>
      </p:sp>
      <p:pic>
        <p:nvPicPr>
          <p:cNvPr id="999" name="Flowchart"/>
          <p:cNvPicPr>
            <a:picLocks noChangeAspect="1"/>
          </p:cNvPicPr>
          <p:nvPr/>
        </p:nvPicPr>
        <p:blipFill>
          <a:blip r:embed="rId2"/>
          <a:stretch>
            <a:fillRect/>
          </a:stretch>
        </p:blipFill>
        <p:spPr>
          <a:xfrm>
            <a:off x="5633156" y="1608786"/>
            <a:ext cx="3202658" cy="41824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Sliding Window Algorithm</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7</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0"/>
              </a:spcAft>
              <a:buNone/>
            </a:pPr>
            <a:r>
              <a:rPr lang="en-US" sz="1900" b="0" i="0" u="none" strike="noStrike" cap="none">
                <a:solidFill>
                  <a:schemeClr val="dk1"/>
                </a:solidFill>
                <a:latin typeface="Times New Roman"/>
                <a:ea typeface="Times New Roman"/>
                <a:cs typeface="Times New Roman"/>
                <a:sym typeface="Times New Roman"/>
              </a:rPr>
              <a:t>The Sliding Window algorithm dynamically tracks requests within a moving time interval, avoiding the boundary burst problem of Fixed Window approaches.</a:t>
            </a:r>
            <a:endParaRPr sz="1900">
              <a:latin typeface="Times New Roman"/>
              <a:ea typeface="Times New Roman"/>
              <a:cs typeface="Times New Roman"/>
              <a:sym typeface="Times New Roman"/>
            </a:endParaRPr>
          </a:p>
          <a:p>
            <a:pPr marL="0" lvl="0" indent="0" algn="l" rtl="0">
              <a:lnSpc>
                <a:spcPct val="115000"/>
              </a:lnSpc>
              <a:spcBef>
                <a:spcPts val="60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600"/>
              </a:spcBef>
              <a:spcAft>
                <a:spcPts val="0"/>
              </a:spcAft>
              <a:buNone/>
            </a:pPr>
            <a:r>
              <a:rPr lang="en-US" sz="1900" b="1" i="0" u="none" strike="noStrike" cap="none">
                <a:solidFill>
                  <a:schemeClr val="dk1"/>
                </a:solidFill>
                <a:latin typeface="Times New Roman"/>
                <a:ea typeface="Times New Roman"/>
                <a:cs typeface="Times New Roman"/>
                <a:sym typeface="Times New Roman"/>
              </a:rPr>
              <a:t>Advantages over Fixed Window:</a:t>
            </a:r>
            <a:endParaRPr sz="1900">
              <a:latin typeface="Times New Roman"/>
              <a:ea typeface="Times New Roman"/>
              <a:cs typeface="Times New Roman"/>
              <a:sym typeface="Times New Roman"/>
            </a:endParaRPr>
          </a:p>
          <a:p>
            <a:pPr marL="0" lvl="0" indent="0" algn="l" rtl="0">
              <a:lnSpc>
                <a:spcPct val="115000"/>
              </a:lnSpc>
              <a:spcBef>
                <a:spcPts val="60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Higher precision — tracks every request timestamp, no sharp resets</a:t>
            </a:r>
            <a:endParaRPr sz="180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Fair distribution — each client tracked independently</a:t>
            </a:r>
            <a:endParaRPr sz="180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Prevents burst traffic — no 2x rate exploit at window boundaries</a:t>
            </a:r>
            <a:endParaRPr sz="1800">
              <a:latin typeface="Times New Roman"/>
              <a:ea typeface="Times New Roman"/>
              <a:cs typeface="Times New Roman"/>
              <a:sym typeface="Times New Roman"/>
            </a:endParaRPr>
          </a:p>
          <a:p>
            <a:pPr marL="0" lvl="0" indent="0" algn="l" rtl="0">
              <a:lnSpc>
                <a:spcPct val="115000"/>
              </a:lnSpc>
              <a:spcBef>
                <a:spcPts val="6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Atomic safety — Lua script executes all Redis steps in one transaction</a:t>
            </a:r>
            <a:endParaRPr sz="1800">
              <a:latin typeface="Times New Roman"/>
              <a:ea typeface="Times New Roman"/>
              <a:cs typeface="Times New Roman"/>
              <a:sym typeface="Times New Roman"/>
            </a:endParaRPr>
          </a:p>
        </p:txBody>
      </p:sp>
      <p:pic>
        <p:nvPicPr>
          <p:cNvPr id="999" name="SlidingWindowDiagram"/>
          <p:cNvPicPr>
            <a:picLocks noChangeAspect="1"/>
          </p:cNvPicPr>
          <p:nvPr/>
        </p:nvPicPr>
        <p:blipFill>
          <a:blip r:embed="rId2"/>
          <a:stretch>
            <a:fillRect/>
          </a:stretch>
        </p:blipFill>
        <p:spPr>
          <a:xfrm>
            <a:off x="182880" y="2560320"/>
            <a:ext cx="8686800" cy="2377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Tools and Technologies</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8</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None/>
            </a:pP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 in-memory </a:t>
            </a:r>
            <a:r>
              <a:rPr lang="en-US" sz="1900" b="0" i="0" u="none" strike="noStrike" cap="none" dirty="0" err="1">
                <a:solidFill>
                  <a:schemeClr val="dk1"/>
                </a:solidFill>
                <a:latin typeface="Times New Roman"/>
                <a:ea typeface="Times New Roman"/>
                <a:cs typeface="Times New Roman"/>
                <a:sym typeface="Times New Roman"/>
              </a:rPr>
              <a:t>datastore</a:t>
            </a:r>
            <a:r>
              <a:rPr lang="en-US" sz="1900" b="0" i="0" u="none" strike="noStrike" cap="none" dirty="0">
                <a:solidFill>
                  <a:schemeClr val="dk1"/>
                </a:solidFill>
                <a:latin typeface="Times New Roman"/>
                <a:ea typeface="Times New Roman"/>
                <a:cs typeface="Times New Roman"/>
                <a:sym typeface="Times New Roman"/>
              </a:rPr>
              <a:t> used for extremely low latency, high throughput, and Sorted Set support for timestamp-based request tracking</a:t>
            </a:r>
            <a:r>
              <a:rPr lang="en-US" sz="1900" b="0"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err="1">
                <a:solidFill>
                  <a:schemeClr val="dk1"/>
                </a:solidFill>
                <a:latin typeface="Times New Roman"/>
                <a:ea typeface="Times New Roman"/>
                <a:cs typeface="Times New Roman"/>
                <a:sym typeface="Times New Roman"/>
              </a:rPr>
              <a:t>Lua</a:t>
            </a:r>
            <a:r>
              <a:rPr lang="en-US" sz="1900" b="0" i="0" u="none" strike="noStrike" cap="none" dirty="0">
                <a:solidFill>
                  <a:schemeClr val="dk1"/>
                </a:solidFill>
                <a:latin typeface="Times New Roman"/>
                <a:ea typeface="Times New Roman"/>
                <a:cs typeface="Times New Roman"/>
                <a:sym typeface="Times New Roman"/>
              </a:rPr>
              <a:t> Scripting — enables atomic execution of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commands, eliminates race conditions, and provides better performance than multiple round trips</a:t>
            </a:r>
            <a:r>
              <a:rPr lang="en-US" sz="1900" b="0"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Node.js — used for backend integration due to its non-blocking I/O model and high concurrency support</a:t>
            </a:r>
            <a:r>
              <a:rPr lang="en-US" sz="1900" b="0"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Express.js — framework used to create REST APIs, integrate middleware, and test rate-limiting functionality per route</a:t>
            </a:r>
            <a:r>
              <a:rPr lang="en-US" sz="1900" b="0"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err="1">
                <a:solidFill>
                  <a:schemeClr val="dk1"/>
                </a:solidFill>
                <a:latin typeface="Times New Roman"/>
                <a:ea typeface="Times New Roman"/>
                <a:cs typeface="Times New Roman"/>
                <a:sym typeface="Times New Roman"/>
              </a:rPr>
              <a:t>ioredis</a:t>
            </a:r>
            <a:r>
              <a:rPr lang="en-US" sz="1900" b="0" i="0" u="none" strike="noStrike" cap="none" dirty="0">
                <a:solidFill>
                  <a:schemeClr val="dk1"/>
                </a:solidFill>
                <a:latin typeface="Times New Roman"/>
                <a:ea typeface="Times New Roman"/>
                <a:cs typeface="Times New Roman"/>
                <a:sym typeface="Times New Roman"/>
              </a:rPr>
              <a:t> —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client for Node.js; </a:t>
            </a:r>
            <a:r>
              <a:rPr lang="en-US" sz="1900" b="0" i="0" u="none" strike="noStrike" cap="none" dirty="0" err="1">
                <a:solidFill>
                  <a:schemeClr val="dk1"/>
                </a:solidFill>
                <a:latin typeface="Times New Roman"/>
                <a:ea typeface="Times New Roman"/>
                <a:cs typeface="Times New Roman"/>
                <a:sym typeface="Times New Roman"/>
              </a:rPr>
              <a:t>ioredis</a:t>
            </a:r>
            <a:r>
              <a:rPr lang="en-US" sz="1900" b="0" i="0" u="none" strike="noStrike" cap="none" dirty="0">
                <a:solidFill>
                  <a:schemeClr val="dk1"/>
                </a:solidFill>
                <a:latin typeface="Times New Roman"/>
                <a:ea typeface="Times New Roman"/>
                <a:cs typeface="Times New Roman"/>
                <a:sym typeface="Times New Roman"/>
              </a:rPr>
              <a:t>-mock used for unit testing without a live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instance</a:t>
            </a:r>
            <a:r>
              <a:rPr lang="en-US" sz="1900" b="0"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err="1">
                <a:solidFill>
                  <a:schemeClr val="dk1"/>
                </a:solidFill>
                <a:latin typeface="Times New Roman"/>
                <a:ea typeface="Times New Roman"/>
                <a:cs typeface="Times New Roman"/>
                <a:sym typeface="Times New Roman"/>
              </a:rPr>
              <a:t>nanoid</a:t>
            </a:r>
            <a:r>
              <a:rPr lang="en-US" sz="1900" b="0" i="0" u="none" strike="noStrike" cap="none" dirty="0">
                <a:solidFill>
                  <a:schemeClr val="dk1"/>
                </a:solidFill>
                <a:latin typeface="Times New Roman"/>
                <a:ea typeface="Times New Roman"/>
                <a:cs typeface="Times New Roman"/>
                <a:sym typeface="Times New Roman"/>
              </a:rPr>
              <a:t> — compact unique ID library used to generate member values for the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Sorted Set.</a:t>
            </a:r>
            <a:endParaRPr sz="19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Implementation</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9</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0"/>
              </a:spcAft>
              <a:buNone/>
            </a:pPr>
            <a:r>
              <a:rPr lang="en-US" sz="1900" b="1" i="0" u="none" strike="noStrike" cap="none">
                <a:solidFill>
                  <a:schemeClr val="dk1"/>
                </a:solidFill>
                <a:latin typeface="Times New Roman"/>
                <a:ea typeface="Times New Roman"/>
                <a:cs typeface="Times New Roman"/>
                <a:sym typeface="Times New Roman"/>
              </a:rPr>
              <a:t>Middleware Integration:</a:t>
            </a:r>
            <a:endParaRPr sz="1900">
              <a:latin typeface="Times New Roman"/>
              <a:ea typeface="Times New Roman"/>
              <a:cs typeface="Times New Roman"/>
              <a:sym typeface="Times New Roman"/>
            </a:endParaRPr>
          </a:p>
          <a:p>
            <a:pPr marL="0" lvl="0" indent="0" algn="l" rtl="0">
              <a:lnSpc>
                <a:spcPct val="115000"/>
              </a:lnSpc>
              <a:spcBef>
                <a:spcPts val="600"/>
              </a:spcBef>
              <a:spcAft>
                <a:spcPts val="0"/>
              </a:spcAft>
              <a:buNone/>
            </a:pPr>
            <a:r>
              <a:rPr lang="en-US" sz="1900" b="0" i="0" u="none" strike="noStrike" cap="none">
                <a:solidFill>
                  <a:schemeClr val="dk1"/>
                </a:solidFill>
                <a:latin typeface="Times New Roman"/>
                <a:ea typeface="Times New Roman"/>
                <a:cs typeface="Times New Roman"/>
                <a:sym typeface="Times New Roman"/>
              </a:rPr>
              <a:t>app.use(rateLimit({ redis: redis, feature: "api", limit: 5, window: 10000 }))</a:t>
            </a:r>
            <a:endParaRPr sz="1900">
              <a:latin typeface="Times New Roman"/>
              <a:ea typeface="Times New Roman"/>
              <a:cs typeface="Times New Roman"/>
              <a:sym typeface="Times New Roman"/>
            </a:endParaRPr>
          </a:p>
          <a:p>
            <a:pPr marL="0" lvl="0" indent="0" algn="l" rtl="0">
              <a:lnSpc>
                <a:spcPct val="115000"/>
              </a:lnSpc>
              <a:spcBef>
                <a:spcPts val="600"/>
              </a:spcBef>
              <a:spcAft>
                <a:spcPts val="0"/>
              </a:spcAft>
              <a:buNone/>
            </a:pPr>
            <a:r>
              <a:rPr lang="en-US" sz="1900" b="0" i="0" u="none" strike="noStrike" cap="none">
                <a:solidFill>
                  <a:schemeClr val="dk1"/>
                </a:solidFill>
                <a:latin typeface="Times New Roman"/>
                <a:ea typeface="Times New Roman"/>
                <a:cs typeface="Times New Roman"/>
                <a:sym typeface="Times New Roman"/>
              </a:rPr>
              <a:t>app.use("/premium", rateLimit({ limit: 10, window: 5000 }))</a:t>
            </a:r>
            <a:endParaRPr sz="1900">
              <a:latin typeface="Times New Roman"/>
              <a:ea typeface="Times New Roman"/>
              <a:cs typeface="Times New Roman"/>
              <a:sym typeface="Times New Roman"/>
            </a:endParaRPr>
          </a:p>
          <a:p>
            <a:pPr marL="0" lvl="0" indent="0" algn="l" rtl="0">
              <a:lnSpc>
                <a:spcPct val="115000"/>
              </a:lnSpc>
              <a:spcBef>
                <a:spcPts val="60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600"/>
              </a:spcBef>
              <a:spcAft>
                <a:spcPts val="0"/>
              </a:spcAft>
              <a:buNone/>
            </a:pPr>
            <a:r>
              <a:rPr lang="en-US" sz="1900" b="0" i="0" u="none" strike="noStrike" cap="none">
                <a:solidFill>
                  <a:schemeClr val="dk1"/>
                </a:solidFill>
                <a:latin typeface="Times New Roman"/>
                <a:ea typeface="Times New Roman"/>
                <a:cs typeface="Times New Roman"/>
                <a:sym typeface="Times New Roman"/>
              </a:rPr>
              <a:t>Rate Limiter Core: generates nanoid member, builds Redis key (rate_limit:ip:feature), calls Lua executor, returns allow/reject.</a:t>
            </a:r>
            <a:endParaRPr sz="1900">
              <a:latin typeface="Times New Roman"/>
              <a:ea typeface="Times New Roman"/>
              <a:cs typeface="Times New Roman"/>
              <a:sym typeface="Times New Roman"/>
            </a:endParaRPr>
          </a:p>
          <a:p>
            <a:pPr marL="0" lvl="0" indent="0" algn="l" rtl="0">
              <a:lnSpc>
                <a:spcPct val="115000"/>
              </a:lnSpc>
              <a:spcBef>
                <a:spcPts val="600"/>
              </a:spcBef>
              <a:spcAft>
                <a:spcPts val="0"/>
              </a:spcAft>
              <a:buNone/>
            </a:pPr>
            <a:endParaRPr sz="1200">
              <a:latin typeface="Times New Roman"/>
              <a:ea typeface="Times New Roman"/>
              <a:cs typeface="Times New Roman"/>
              <a:sym typeface="Times New Roman"/>
            </a:endParaRPr>
          </a:p>
          <a:p>
            <a:pPr marL="0" lvl="0" indent="0" algn="l" rtl="0">
              <a:lnSpc>
                <a:spcPct val="115000"/>
              </a:lnSpc>
              <a:spcBef>
                <a:spcPts val="600"/>
              </a:spcBef>
              <a:spcAft>
                <a:spcPts val="0"/>
              </a:spcAft>
              <a:buNone/>
            </a:pPr>
            <a:r>
              <a:rPr lang="en-US" sz="1900" b="1" i="0" u="none" strike="noStrike" cap="none">
                <a:solidFill>
                  <a:schemeClr val="dk1"/>
                </a:solidFill>
                <a:latin typeface="Times New Roman"/>
                <a:ea typeface="Times New Roman"/>
                <a:cs typeface="Times New Roman"/>
                <a:sym typeface="Times New Roman"/>
              </a:rPr>
              <a:t>System architecture and Lua script structure:</a:t>
            </a:r>
            <a:endParaRPr sz="1900">
              <a:latin typeface="Times New Roman"/>
              <a:ea typeface="Times New Roman"/>
              <a:cs typeface="Times New Roman"/>
              <a:sym typeface="Times New Roman"/>
            </a:endParaRPr>
          </a:p>
        </p:txBody>
      </p:sp>
      <p:pic>
        <p:nvPicPr>
          <p:cNvPr id="999" name="ArchDiagram"/>
          <p:cNvPicPr>
            <a:picLocks noChangeAspect="1"/>
          </p:cNvPicPr>
          <p:nvPr/>
        </p:nvPicPr>
        <p:blipFill>
          <a:blip r:embed="rId3"/>
          <a:stretch>
            <a:fillRect/>
          </a:stretch>
        </p:blipFill>
        <p:spPr>
          <a:xfrm>
            <a:off x="182880" y="2697480"/>
            <a:ext cx="4297680" cy="2240280"/>
          </a:xfrm>
          <a:prstGeom prst="rect">
            <a:avLst/>
          </a:prstGeom>
        </p:spPr>
      </p:pic>
      <p:pic>
        <p:nvPicPr>
          <p:cNvPr id="2" name="LuaDiagram"/>
          <p:cNvPicPr>
            <a:picLocks noChangeAspect="1"/>
          </p:cNvPicPr>
          <p:nvPr/>
        </p:nvPicPr>
        <p:blipFill>
          <a:blip r:embed="rId4"/>
          <a:stretch>
            <a:fillRect/>
          </a:stretch>
        </p:blipFill>
        <p:spPr>
          <a:xfrm>
            <a:off x="4572000" y="2697480"/>
            <a:ext cx="4297680" cy="2240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Working Snapshots</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10</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Snapshot 1 — Initial State:</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The Atomic Rate Limiter frontend is loaded. Two endpoints are shown: Standard API (5 </a:t>
            </a:r>
            <a:r>
              <a:rPr lang="en-US" sz="1900" b="0" i="0" u="none" strike="noStrike" cap="none" dirty="0" err="1">
                <a:solidFill>
                  <a:schemeClr val="dk1"/>
                </a:solidFill>
                <a:latin typeface="Times New Roman"/>
                <a:ea typeface="Times New Roman"/>
                <a:cs typeface="Times New Roman"/>
                <a:sym typeface="Times New Roman"/>
              </a:rPr>
              <a:t>req</a:t>
            </a:r>
            <a:r>
              <a:rPr lang="en-US" sz="1900" b="0" i="0" u="none" strike="noStrike" cap="none" dirty="0">
                <a:solidFill>
                  <a:schemeClr val="dk1"/>
                </a:solidFill>
                <a:latin typeface="Times New Roman"/>
                <a:ea typeface="Times New Roman"/>
                <a:cs typeface="Times New Roman"/>
                <a:sym typeface="Times New Roman"/>
              </a:rPr>
              <a:t> / 10s) and Premium API (10 </a:t>
            </a:r>
            <a:r>
              <a:rPr lang="en-US" sz="1900" b="0" i="0" u="none" strike="noStrike" cap="none" dirty="0" err="1">
                <a:solidFill>
                  <a:schemeClr val="dk1"/>
                </a:solidFill>
                <a:latin typeface="Times New Roman"/>
                <a:ea typeface="Times New Roman"/>
                <a:cs typeface="Times New Roman"/>
                <a:sym typeface="Times New Roman"/>
              </a:rPr>
              <a:t>req</a:t>
            </a:r>
            <a:r>
              <a:rPr lang="en-US" sz="1900" b="0" i="0" u="none" strike="noStrike" cap="none" dirty="0">
                <a:solidFill>
                  <a:schemeClr val="dk1"/>
                </a:solidFill>
                <a:latin typeface="Times New Roman"/>
                <a:ea typeface="Times New Roman"/>
                <a:cs typeface="Times New Roman"/>
                <a:sym typeface="Times New Roman"/>
              </a:rPr>
              <a:t> / 5s). The Real-time Log panel shows 'No requests yet. Fire away!'</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Snapshot 2 — Rate Limit Enforced:</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After sending multiple GET requests to the Standard API, the real-time log captures:</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HTTP 200 — Standard API request successful! (Rem: 2)</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HTTP 200 — Standard API request successful! (Rem: 1)</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HTTP 200 — Standard API request successful! (Rem: 0)</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HTTP 429 — Rate Limit Exceeded (Rem: 0</a:t>
            </a:r>
            <a:r>
              <a:rPr lang="en-US" sz="1800" b="0"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The sliding window correctly enforced the 5 </a:t>
            </a:r>
            <a:r>
              <a:rPr lang="en-US" sz="1900" b="0" i="0" u="none" strike="noStrike" cap="none" dirty="0" err="1">
                <a:solidFill>
                  <a:schemeClr val="dk1"/>
                </a:solidFill>
                <a:latin typeface="Times New Roman"/>
                <a:ea typeface="Times New Roman"/>
                <a:cs typeface="Times New Roman"/>
                <a:sym typeface="Times New Roman"/>
              </a:rPr>
              <a:t>req</a:t>
            </a:r>
            <a:r>
              <a:rPr lang="en-US" sz="1900" b="0" i="0" u="none" strike="noStrike" cap="none" dirty="0">
                <a:solidFill>
                  <a:schemeClr val="dk1"/>
                </a:solidFill>
                <a:latin typeface="Times New Roman"/>
                <a:ea typeface="Times New Roman"/>
                <a:cs typeface="Times New Roman"/>
                <a:sym typeface="Times New Roman"/>
              </a:rPr>
              <a:t>/10s limit — powered by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 Express.</a:t>
            </a:r>
            <a:endParaRPr sz="1900"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Major Findings / Outcomes / Results</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11</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Performance Improvements:</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Significant reduction in API abuse incidents under test load</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Stable server performance — no overload observed during stress testing</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Sub-millisecond rate-limit decisions maintained </a:t>
            </a:r>
            <a:r>
              <a:rPr lang="en-US" sz="1800" b="0" i="0" u="none" strike="noStrike" cap="none" dirty="0" smtClean="0">
                <a:solidFill>
                  <a:schemeClr val="dk1"/>
                </a:solidFill>
                <a:latin typeface="Times New Roman"/>
                <a:ea typeface="Times New Roman"/>
                <a:cs typeface="Times New Roman"/>
                <a:sym typeface="Times New Roman"/>
              </a:rPr>
              <a:t>consistently</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Accuracy of Rate Limiting:</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Precise request counting with no boundary burst issues unlike Fixed Window</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Fair enforcement across all clients tracked independently</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HTTP 429 returned on exact limit breach, HTTP 200 </a:t>
            </a:r>
            <a:r>
              <a:rPr lang="en-US" sz="1800" b="0" i="0" u="none" strike="noStrike" cap="none" dirty="0" smtClean="0">
                <a:solidFill>
                  <a:schemeClr val="dk1"/>
                </a:solidFill>
                <a:latin typeface="Times New Roman"/>
                <a:ea typeface="Times New Roman"/>
                <a:cs typeface="Times New Roman"/>
                <a:sym typeface="Times New Roman"/>
              </a:rPr>
              <a:t>otherwise</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Concurrency Handling:</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err="1">
                <a:solidFill>
                  <a:schemeClr val="dk1"/>
                </a:solidFill>
                <a:latin typeface="Times New Roman"/>
                <a:ea typeface="Times New Roman"/>
                <a:cs typeface="Times New Roman"/>
                <a:sym typeface="Times New Roman"/>
              </a:rPr>
              <a:t>Lua</a:t>
            </a:r>
            <a:r>
              <a:rPr lang="en-US" sz="1800" b="0" i="0" u="none" strike="noStrike" cap="none" dirty="0">
                <a:solidFill>
                  <a:schemeClr val="dk1"/>
                </a:solidFill>
                <a:latin typeface="Times New Roman"/>
                <a:ea typeface="Times New Roman"/>
                <a:cs typeface="Times New Roman"/>
                <a:sym typeface="Times New Roman"/>
              </a:rPr>
              <a:t> atomic execution eliminated all race conditions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Consistent behavior maintained under concurrent </a:t>
            </a:r>
            <a:r>
              <a:rPr lang="en-US" sz="1800" b="0" i="0" u="none" strike="noStrike" cap="none" dirty="0" smtClean="0">
                <a:solidFill>
                  <a:schemeClr val="dk1"/>
                </a:solidFill>
                <a:latin typeface="Times New Roman"/>
                <a:ea typeface="Times New Roman"/>
                <a:cs typeface="Times New Roman"/>
                <a:sym typeface="Times New Roman"/>
              </a:rPr>
              <a:t>requests</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Scalability: Suitable for distributed </a:t>
            </a:r>
            <a:r>
              <a:rPr lang="en-US" sz="1900" b="0" i="0" u="none" strike="noStrike" cap="none" dirty="0" err="1">
                <a:solidFill>
                  <a:schemeClr val="dk1"/>
                </a:solidFill>
                <a:latin typeface="Times New Roman"/>
                <a:ea typeface="Times New Roman"/>
                <a:cs typeface="Times New Roman"/>
                <a:sym typeface="Times New Roman"/>
              </a:rPr>
              <a:t>microservices</a:t>
            </a:r>
            <a:r>
              <a:rPr lang="en-US" sz="1900" b="0" i="0" u="none" strike="noStrike" cap="none" dirty="0">
                <a:solidFill>
                  <a:schemeClr val="dk1"/>
                </a:solidFill>
                <a:latin typeface="Times New Roman"/>
                <a:ea typeface="Times New Roman"/>
                <a:cs typeface="Times New Roman"/>
                <a:sym typeface="Times New Roman"/>
              </a:rPr>
              <a:t>, cloud-native applications, and high-traffic backend systems.</a:t>
            </a:r>
            <a:endParaRPr sz="1900"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Conclusion and Future Scope</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12</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This project successfully demonstrates the design and implementation of a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-Based Sliding Window Rate Limiter using </a:t>
            </a:r>
            <a:r>
              <a:rPr lang="en-US" sz="1900" b="0" i="0" u="none" strike="noStrike" cap="none" dirty="0" err="1">
                <a:solidFill>
                  <a:schemeClr val="dk1"/>
                </a:solidFill>
                <a:latin typeface="Times New Roman"/>
                <a:ea typeface="Times New Roman"/>
                <a:cs typeface="Times New Roman"/>
                <a:sym typeface="Times New Roman"/>
              </a:rPr>
              <a:t>Lua</a:t>
            </a:r>
            <a:r>
              <a:rPr lang="en-US" sz="1900" b="0" i="0" u="none" strike="noStrike" cap="none" dirty="0">
                <a:solidFill>
                  <a:schemeClr val="dk1"/>
                </a:solidFill>
                <a:latin typeface="Times New Roman"/>
                <a:ea typeface="Times New Roman"/>
                <a:cs typeface="Times New Roman"/>
                <a:sym typeface="Times New Roman"/>
              </a:rPr>
              <a:t> Scripting. By combining </a:t>
            </a:r>
            <a:r>
              <a:rPr lang="en-US" sz="1900" b="0" i="0" u="none" strike="noStrike" cap="none" dirty="0" err="1">
                <a:solidFill>
                  <a:schemeClr val="dk1"/>
                </a:solidFill>
                <a:latin typeface="Times New Roman"/>
                <a:ea typeface="Times New Roman"/>
                <a:cs typeface="Times New Roman"/>
                <a:sym typeface="Times New Roman"/>
              </a:rPr>
              <a:t>Redis</a:t>
            </a:r>
            <a:r>
              <a:rPr lang="en-US" sz="1900" b="0" i="0" u="none" strike="noStrike" cap="none" dirty="0">
                <a:solidFill>
                  <a:schemeClr val="dk1"/>
                </a:solidFill>
                <a:latin typeface="Times New Roman"/>
                <a:ea typeface="Times New Roman"/>
                <a:cs typeface="Times New Roman"/>
                <a:sym typeface="Times New Roman"/>
              </a:rPr>
              <a:t> Sorted Sets, the Sliding Window Algorithm, and atomic </a:t>
            </a:r>
            <a:r>
              <a:rPr lang="en-US" sz="1900" b="0" i="0" u="none" strike="noStrike" cap="none" dirty="0" err="1">
                <a:solidFill>
                  <a:schemeClr val="dk1"/>
                </a:solidFill>
                <a:latin typeface="Times New Roman"/>
                <a:ea typeface="Times New Roman"/>
                <a:cs typeface="Times New Roman"/>
                <a:sym typeface="Times New Roman"/>
              </a:rPr>
              <a:t>Lua</a:t>
            </a:r>
            <a:r>
              <a:rPr lang="en-US" sz="1900" b="0" i="0" u="none" strike="noStrike" cap="none" dirty="0">
                <a:solidFill>
                  <a:schemeClr val="dk1"/>
                </a:solidFill>
                <a:latin typeface="Times New Roman"/>
                <a:ea typeface="Times New Roman"/>
                <a:cs typeface="Times New Roman"/>
                <a:sym typeface="Times New Roman"/>
              </a:rPr>
              <a:t> execution, the system ensures reliable rate limiting, fair user access, low latency, high scalability, and prevention of backend overload.</a:t>
            </a:r>
            <a:endParaRPr sz="19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0" i="0" u="none" strike="noStrike" cap="none" dirty="0">
                <a:solidFill>
                  <a:schemeClr val="dk1"/>
                </a:solidFill>
                <a:latin typeface="Times New Roman"/>
                <a:ea typeface="Times New Roman"/>
                <a:cs typeface="Times New Roman"/>
                <a:sym typeface="Times New Roman"/>
              </a:rPr>
              <a:t>The solution is well-suited for modern distributed backend architectures and integrates cleanly as Express.js middleware into any Node.js REST API</a:t>
            </a:r>
            <a:r>
              <a:rPr lang="en-US" sz="1900" b="0"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None/>
            </a:pPr>
            <a:r>
              <a:rPr lang="en-US" sz="1900" b="1" i="0" u="none" strike="noStrike" cap="none" dirty="0">
                <a:solidFill>
                  <a:schemeClr val="dk1"/>
                </a:solidFill>
                <a:latin typeface="Times New Roman"/>
                <a:ea typeface="Times New Roman"/>
                <a:cs typeface="Times New Roman"/>
                <a:sym typeface="Times New Roman"/>
              </a:rPr>
              <a:t>Future Scope</a:t>
            </a:r>
            <a:r>
              <a:rPr lang="en-US" sz="1900" b="1" i="0" u="none" strike="noStrike" cap="none" dirty="0" smtClean="0">
                <a:solidFill>
                  <a:schemeClr val="dk1"/>
                </a:solidFill>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smtClean="0">
                <a:solidFill>
                  <a:schemeClr val="dk1"/>
                </a:solidFill>
                <a:latin typeface="Times New Roman"/>
                <a:ea typeface="Times New Roman"/>
                <a:cs typeface="Times New Roman"/>
                <a:sym typeface="Times New Roman"/>
              </a:rPr>
              <a:t>Dynamic </a:t>
            </a:r>
            <a:r>
              <a:rPr lang="en-US" sz="1800" b="0" i="0" u="none" strike="noStrike" cap="none" dirty="0">
                <a:solidFill>
                  <a:schemeClr val="dk1"/>
                </a:solidFill>
                <a:latin typeface="Times New Roman"/>
                <a:ea typeface="Times New Roman"/>
                <a:cs typeface="Times New Roman"/>
                <a:sym typeface="Times New Roman"/>
              </a:rPr>
              <a:t>per-user and custom plan rate limits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Real-time monitoring dashboard for traffic insights</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smtClean="0">
                <a:solidFill>
                  <a:schemeClr val="dk1"/>
                </a:solidFill>
                <a:latin typeface="Times New Roman"/>
                <a:ea typeface="Times New Roman"/>
                <a:cs typeface="Times New Roman"/>
                <a:sym typeface="Times New Roman"/>
              </a:rPr>
              <a:t>Machine </a:t>
            </a:r>
            <a:r>
              <a:rPr lang="en-US" sz="1800" b="0" i="0" u="none" strike="noStrike" cap="none" dirty="0">
                <a:solidFill>
                  <a:schemeClr val="dk1"/>
                </a:solidFill>
                <a:latin typeface="Times New Roman"/>
                <a:ea typeface="Times New Roman"/>
                <a:cs typeface="Times New Roman"/>
                <a:sym typeface="Times New Roman"/>
              </a:rPr>
              <a:t>learning-based anomaly detection for API traffic</a:t>
            </a:r>
            <a:endParaRPr sz="1800" dirty="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dirty="0">
                <a:solidFill>
                  <a:schemeClr val="dk1"/>
                </a:solidFill>
                <a:latin typeface="Times New Roman"/>
                <a:ea typeface="Times New Roman"/>
                <a:cs typeface="Times New Roman"/>
                <a:sym typeface="Times New Roman"/>
              </a:rPr>
              <a:t>Open-source </a:t>
            </a:r>
            <a:r>
              <a:rPr lang="en-US" sz="1800" b="0" i="0" u="none" strike="noStrike" cap="none" dirty="0" err="1">
                <a:solidFill>
                  <a:schemeClr val="dk1"/>
                </a:solidFill>
                <a:latin typeface="Times New Roman"/>
                <a:ea typeface="Times New Roman"/>
                <a:cs typeface="Times New Roman"/>
                <a:sym typeface="Times New Roman"/>
              </a:rPr>
              <a:t>npm</a:t>
            </a:r>
            <a:r>
              <a:rPr lang="en-US" sz="1800" b="0" i="0" u="none" strike="noStrike" cap="none" dirty="0">
                <a:solidFill>
                  <a:schemeClr val="dk1"/>
                </a:solidFill>
                <a:latin typeface="Times New Roman"/>
                <a:ea typeface="Times New Roman"/>
                <a:cs typeface="Times New Roman"/>
                <a:sym typeface="Times New Roman"/>
              </a:rPr>
              <a:t> package release</a:t>
            </a:r>
            <a:endParaRPr sz="1800"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800"/>
              </a:spcBef>
              <a:spcAft>
                <a:spcPts val="0"/>
              </a:spcAft>
              <a:buNone/>
            </a:pPr>
            <a:r>
              <a:rPr lang="en-US" sz="3200" b="0" i="0" u="none" strike="noStrike" cap="none">
                <a:solidFill>
                  <a:schemeClr val="dk1"/>
                </a:solidFill>
                <a:latin typeface="Times New Roman"/>
                <a:ea typeface="Times New Roman"/>
                <a:cs typeface="Times New Roman"/>
                <a:sym typeface="Times New Roman"/>
              </a:rPr>
              <a:t>References</a:t>
            </a:r>
            <a:endParaRPr sz="3200">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13</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Redis Documentation — https://redis.io/docs</a:t>
            </a:r>
            <a:endParaRPr sz="180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Lua Scripting in Redis — https://redis.io/docs/manual/programmability/eval-intro/</a:t>
            </a:r>
            <a:endParaRPr sz="180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Node.js Documentation — https://nodejs.org/docs</a:t>
            </a:r>
            <a:endParaRPr sz="180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Express.js Documentation — https://expressjs.com/</a:t>
            </a:r>
            <a:endParaRPr sz="180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ioredis GitHub Repository — https://github.com/redis/ioredis</a:t>
            </a:r>
            <a:endParaRPr sz="180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NanoID Documentation — https://github.com/ai/nanoid</a:t>
            </a:r>
            <a:endParaRPr sz="180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Cloudflare: What is Rate Limiting? — https://www.cloudflare.com/learning/bots/what-is-rate-limiting/</a:t>
            </a:r>
            <a:endParaRPr sz="1800">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Char char="•"/>
            </a:pPr>
            <a:r>
              <a:rPr lang="en-US" sz="1800" b="0" i="0" u="none" strike="noStrike" cap="none">
                <a:solidFill>
                  <a:schemeClr val="dk1"/>
                </a:solidFill>
                <a:latin typeface="Times New Roman"/>
                <a:ea typeface="Times New Roman"/>
                <a:cs typeface="Times New Roman"/>
                <a:sym typeface="Times New Roman"/>
              </a:rPr>
              <a:t>Kong Blog: Rate Limiting Algorithms — https://konghq.com/blog/how-to-design-a-scalable-rate-limiting-algorithm</a:t>
            </a:r>
            <a:endParaRPr sz="18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p:nvPr/>
        </p:nvSpPr>
        <p:spPr>
          <a:xfrm>
            <a:off x="1297577" y="2821578"/>
            <a:ext cx="6705599" cy="14107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b="0" i="0" u="none" strike="noStrike" cap="none">
                <a:solidFill>
                  <a:schemeClr val="dk1"/>
                </a:solidFill>
                <a:latin typeface="Times New Roman"/>
                <a:ea typeface="Times New Roman"/>
                <a:cs typeface="Times New Roman"/>
                <a:sym typeface="Times New Roman"/>
              </a:rPr>
              <a:t>Thank You</a:t>
            </a:r>
            <a:endParaRPr sz="5400" b="0" i="0" u="none" strike="noStrike" cap="none">
              <a:solidFill>
                <a:srgbClr val="000000"/>
              </a:solidFill>
              <a:latin typeface="Times New Roman"/>
              <a:ea typeface="Times New Roman"/>
              <a:cs typeface="Times New Roman"/>
              <a:sym typeface="Times New Roman"/>
            </a:endParaRPr>
          </a:p>
        </p:txBody>
      </p:sp>
      <p:sp>
        <p:nvSpPr>
          <p:cNvPr id="97" name="Google Shape;97;p3"/>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14</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1251</Words>
  <Application>Microsoft Office PowerPoint</Application>
  <PresentationFormat>On-screen Show (4:3)</PresentationFormat>
  <Paragraphs>149</Paragraphs>
  <Slides>14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Welcome</cp:lastModifiedBy>
  <cp:revision>2</cp:revision>
  <dcterms:created xsi:type="dcterms:W3CDTF">2010-04-09T07:36:15Z</dcterms:created>
  <dcterms:modified xsi:type="dcterms:W3CDTF">2026-05-07T18:14:35Z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